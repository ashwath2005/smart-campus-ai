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70" r:id="rId6"/>
    <p:sldId id="266" r:id="rId7"/>
    <p:sldId id="261" r:id="rId8"/>
    <p:sldId id="271" r:id="rId9"/>
    <p:sldId id="272" r:id="rId10"/>
    <p:sldId id="275" r:id="rId11"/>
    <p:sldId id="276" r:id="rId12"/>
    <p:sldId id="273" r:id="rId13"/>
    <p:sldId id="274" r:id="rId14"/>
    <p:sldId id="269" r:id="rId15"/>
    <p:sldId id="264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08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dc2cd92c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dc2cd92c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dc2cd92c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dc2cd92c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dc2cd92c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dc2cd92c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dc2cd92c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dc2cd92c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dc2cd92c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dc2cd92c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dc2cd92c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dc2cd92ce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870" y="1582439"/>
            <a:ext cx="8520430" cy="6468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algn="ctr">
              <a:defRPr sz="2100" b="1">
                <a:solidFill>
                  <a:srgbClr val="0A285F"/>
                </a:solidFill>
                <a:latin typeface="Arial"/>
              </a:defRPr>
            </a:pPr>
            <a:r>
              <a:t>SMART CAMPUS MANAGEMENT ECOSYSTEM WITH AI-POWERED ASSISTANCE, WEARABLE NOTIFICATIONS, AND ADAPTIVE LEARNING ANALYTICS (SCME-AWN)</a:t>
            </a:r>
            <a:endParaRPr lang="en-GB" sz="22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93953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 Team Members</a:t>
            </a: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2600" y="0"/>
            <a:ext cx="8839201" cy="10244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492125" y="3472180"/>
            <a:ext cx="373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latin typeface="Arial"/>
              </a:defRPr>
            </a:pPr>
            <a:r>
              <a:t>ASHWATH S          - 727823TUCS020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92125" y="3842385"/>
            <a:ext cx="373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latin typeface="Arial"/>
              </a:defRPr>
            </a:pPr>
            <a:r>
              <a:t>BALAMANIKANDAN R  - 727823TUCS026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92124" y="4212590"/>
            <a:ext cx="3738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latin typeface="Arial"/>
              </a:defRPr>
            </a:pPr>
            <a:r>
              <a:t>CATHRIN R         - 727823TUCS032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471797" y="3392289"/>
            <a:ext cx="3454400" cy="1453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vl="0" algn="l">
              <a:lnSpc>
                <a:spcPct val="120000"/>
              </a:lnSpc>
            </a:pPr>
            <a:r>
              <a:rPr sz="1300" b="1">
                <a:latin typeface="Arial"/>
              </a:rPr>
              <a:t>Batch No: 15</a:t>
            </a:r>
          </a:p>
          <a:p>
            <a:pPr marL="0" indent="0" lvl="0" algn="l"/>
            <a:r>
              <a:rPr sz="1300" b="1">
                <a:latin typeface="Arial"/>
              </a:rPr>
              <a:t>Guide: Ms. S. Vidhiya</a:t>
            </a:r>
          </a:p>
          <a:p>
            <a:pPr marL="0" indent="0" lvl="0" algn="l"/>
            <a:r>
              <a:rPr sz="1200">
                <a:latin typeface="Arial"/>
              </a:rPr>
              <a:t>Assistant Professor</a:t>
            </a:r>
          </a:p>
          <a:p>
            <a:pPr marL="0" indent="0" lvl="0" algn="l"/>
            <a:r>
              <a:rPr sz="1200">
                <a:latin typeface="Arial"/>
              </a:rPr>
              <a:t>Department of CSE, SKCT</a:t>
            </a:r>
          </a:p>
          <a:p>
            <a:pPr marL="0" indent="0" lvl="0" algn="l"/>
            <a:r>
              <a:rPr sz="1200">
                <a:latin typeface="Arial"/>
              </a:rPr>
              <a:t>Date: 10/09/2026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750D1-1412-75E2-0CC3-F130DD01E15A}"/>
              </a:ext>
            </a:extLst>
          </p:cNvPr>
          <p:cNvSpPr txBox="1"/>
          <p:nvPr/>
        </p:nvSpPr>
        <p:spPr>
          <a:xfrm>
            <a:off x="492124" y="4613573"/>
            <a:ext cx="44397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latin typeface="Arial"/>
              </a:defRPr>
            </a:pPr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076625" y="103505"/>
            <a:ext cx="4219800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</a:rPr>
              <a:t>ABSTRACT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05435" y="900430"/>
            <a:ext cx="853313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lvl="0" algn="l">
              <a:spcAft>
                <a:spcPts val="1400"/>
              </a:spcAft>
            </a:pPr>
            <a:r>
              <a:rPr sz="1300">
                <a:latin typeface="Arial"/>
              </a:rPr>
              <a:t>Modern higher education institutions encounter operational bottlenecks due to fragmented legacy ERP portals, manual gate pass approvals, and static Learning Management Systems (LMS) that lack real-time cognitive intelligence and student feedback.</a:t>
            </a:r>
          </a:p>
          <a:p>
            <a:pPr marL="0" indent="0" lvl="0" algn="l">
              <a:spcAft>
                <a:spcPts val="1400"/>
              </a:spcAft>
            </a:pPr>
            <a:r>
              <a:rPr sz="1300">
                <a:latin typeface="Arial"/>
              </a:rPr>
              <a:t>This project presents the </a:t>
            </a:r>
            <a:r>
              <a:rPr sz="1300" b="1">
                <a:latin typeface="Arial"/>
              </a:rPr>
              <a:t>Smart Campus Management Ecosystem (SCME-AWN)</a:t>
            </a:r>
            <a:r>
              <a:rPr sz="1300">
                <a:latin typeface="Arial"/>
              </a:rPr>
              <a:t>, an asynchronous campus core uniting Generative AI Context Binding (GACB) with Google Gemini 2.5 Flash over live relational databases with zero vector lag.</a:t>
            </a:r>
          </a:p>
          <a:p>
            <a:pPr marL="0" indent="0" lvl="0" algn="l">
              <a:spcAft>
                <a:spcPts val="1400"/>
              </a:spcAft>
            </a:pPr>
            <a:r>
              <a:rPr sz="1300">
                <a:latin typeface="Arial"/>
              </a:rPr>
              <a:t>The ecosystem deploys 10 specialized algorithms including Cognitive Learning Pattern Analytics (CLPA) for archetype profiling, Knowledge Decay Prediction (KDPA) modeling Ebbinghaus retention over syllabus DAGs, and deterministic O(1) hardware-free faculty tracking.</a:t>
            </a:r>
          </a:p>
          <a:p>
            <a:pPr marL="0" indent="0" lvl="0" algn="l">
              <a:spcAft>
                <a:spcPts val="600"/>
              </a:spcAft>
            </a:pPr>
            <a:r>
              <a:rPr sz="1300">
                <a:latin typeface="Arial"/>
              </a:rPr>
              <a:t>Empirical verification demonstrates sub-50ms database response latency, sub-25ms prompt compilation, 75% token cost reduction compared to naive vector RAG, and 100% pass rates across 22 verification test suites.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973580" y="137160"/>
            <a:ext cx="5682615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dk1"/>
                </a:solidFill>
              </a:rPr>
              <a:t>PROBLEM STATEMENT</a:t>
            </a:r>
            <a:endParaRPr sz="100" dirty="0"/>
          </a:p>
        </p:txBody>
      </p:sp>
      <p:sp>
        <p:nvSpPr>
          <p:cNvPr id="2" name="Text Box 1"/>
          <p:cNvSpPr txBox="1"/>
          <p:nvPr/>
        </p:nvSpPr>
        <p:spPr>
          <a:xfrm>
            <a:off x="913765" y="956945"/>
            <a:ext cx="7315835" cy="423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1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AF2D2-12A4-DE51-6238-22C4843A1332}"/>
              </a:ext>
            </a:extLst>
          </p:cNvPr>
          <p:cNvSpPr txBox="1"/>
          <p:nvPr/>
        </p:nvSpPr>
        <p:spPr>
          <a:xfrm>
            <a:off x="913765" y="974467"/>
            <a:ext cx="731583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>
              <a:spcAft>
                <a:spcPts val="800"/>
              </a:spcAft>
            </a:pPr>
            <a:r>
              <a:rPr sz="1200" b="1">
                <a:latin typeface="Arial"/>
              </a:rPr>
              <a:t>•  Siloed &amp; Rigid Campus Portals: </a:t>
            </a:r>
            <a:r>
              <a:rPr sz="1200">
                <a:latin typeface="Arial"/>
              </a:rPr>
              <a:t>Students and faculty lose up to 40% of administrative time navigating deeply nested forms across fragmented portals.</a:t>
            </a:r>
          </a:p>
          <a:p>
            <a:pPr marL="0" indent="0" lvl="0" algn="l">
              <a:spcAft>
                <a:spcPts val="800"/>
              </a:spcAft>
            </a:pPr>
            <a:r>
              <a:rPr sz="1200" b="1">
                <a:latin typeface="Arial"/>
              </a:rPr>
              <a:t>•  Absence of Cognitive Intelligence: </a:t>
            </a:r>
            <a:r>
              <a:rPr sz="1200">
                <a:latin typeface="Arial"/>
              </a:rPr>
              <a:t>Generic LMS portals ignore cognitive learning styles, telemetry patterns, and Ebbinghaus forgetting curves.</a:t>
            </a:r>
          </a:p>
          <a:p>
            <a:pPr marL="0" indent="0" lvl="0" algn="l">
              <a:spcAft>
                <a:spcPts val="800"/>
              </a:spcAft>
            </a:pPr>
            <a:r>
              <a:rPr sz="1200" b="1">
                <a:latin typeface="Arial"/>
              </a:rPr>
              <a:t>•  Fragile IoT Hardware Dependency: </a:t>
            </a:r>
            <a:r>
              <a:rPr sz="1200">
                <a:latin typeface="Arial"/>
              </a:rPr>
              <a:t>Physical tracking beacons (BLE/RFID) have &gt;65% maintenance failure rates due to battery depletion.</a:t>
            </a:r>
          </a:p>
          <a:p>
            <a:pPr marL="0" indent="0" lvl="0" algn="l">
              <a:spcAft>
                <a:spcPts val="800"/>
              </a:spcAft>
            </a:pPr>
            <a:r>
              <a:rPr sz="1200" b="1">
                <a:latin typeface="Arial"/>
              </a:rPr>
              <a:t>•  Context Isolation in Public LLMs: </a:t>
            </a:r>
            <a:r>
              <a:rPr sz="1200">
                <a:latin typeface="Arial"/>
              </a:rPr>
              <a:t>Standard models lack live access to institutional database records, causing hallucinations and privacy leaks.</a:t>
            </a:r>
          </a:p>
          <a:p>
            <a:pPr marL="0" indent="0" lvl="0" algn="l">
              <a:spcAft>
                <a:spcPts val="1200"/>
              </a:spcAft>
            </a:pPr>
            <a:r>
              <a:rPr sz="1200" b="1">
                <a:latin typeface="Arial"/>
              </a:rPr>
              <a:t>•  Alert Fatigue &amp; Lecture Disruption: </a:t>
            </a:r>
            <a:r>
              <a:rPr sz="1200">
                <a:latin typeface="Arial"/>
              </a:rPr>
              <a:t>Unfiltered broadcast alerts disrupt classes without timetable-aware Do Not Disturb or emergency priority escalation.</a:t>
            </a:r>
          </a:p>
          <a:p>
            <a:pPr marL="0" indent="0" lvl="0" algn="l">
              <a:spcAft>
                <a:spcPts val="400"/>
              </a:spcAft>
            </a:pPr>
            <a:r>
              <a:rPr sz="1400" b="1">
                <a:solidFill>
                  <a:srgbClr val="0A285F"/>
                </a:solidFill>
                <a:latin typeface="Arial"/>
              </a:rPr>
              <a:t>Need</a:t>
            </a:r>
          </a:p>
          <a:p>
            <a:pPr marL="0" indent="0" lvl="0" algn="l"/>
            <a:r>
              <a:rPr sz="1250" i="1">
                <a:latin typeface="Arial"/>
              </a:rPr>
              <a:t>An integrated, high-concurrency campus ecosystem binding live institutional databases with generative AI, wearable notifications, and predictive cognitive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2076625" y="69215"/>
            <a:ext cx="5515500" cy="70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</a:rPr>
              <a:t>PROPOSED SYSTEM</a:t>
            </a:r>
            <a:endParaRPr sz="3400"/>
          </a:p>
        </p:txBody>
      </p:sp>
      <p:sp>
        <p:nvSpPr>
          <p:cNvPr id="2" name="Text Box 1"/>
          <p:cNvSpPr txBox="1"/>
          <p:nvPr/>
        </p:nvSpPr>
        <p:spPr>
          <a:xfrm>
            <a:off x="725805" y="851535"/>
            <a:ext cx="82169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lvl="0" algn="l">
              <a:spcAft>
                <a:spcPts val="1200"/>
              </a:spcAft>
            </a:pPr>
            <a:r>
              <a:rPr sz="1300">
                <a:latin typeface="Arial"/>
              </a:rPr>
              <a:t>The Smart Campus Management Ecosystem (SCME-AWN) establishes an asynchronous, reactive campus intelligence platform built on React 18, FastAPI ASGI, and SQLAlchemy 2.0 Async ORM.</a:t>
            </a:r>
          </a:p>
          <a:p>
            <a:pPr marL="0" indent="0" lvl="0" algn="l">
              <a:spcAft>
                <a:spcPts val="800"/>
              </a:spcAft>
            </a:pPr>
            <a:r>
              <a:rPr sz="1400" b="1">
                <a:solidFill>
                  <a:srgbClr val="0A285F"/>
                </a:solidFill>
                <a:latin typeface="Arial"/>
              </a:rPr>
              <a:t>Key Features</a:t>
            </a:r>
          </a:p>
          <a:p>
            <a:pPr marL="0" indent="0" lvl="0" algn="l">
              <a:spcAft>
                <a:spcPts val="600"/>
              </a:spcAft>
            </a:pPr>
            <a:r>
              <a:rPr sz="1200" b="1">
                <a:latin typeface="Arial"/>
              </a:rPr>
              <a:t>•  Generative AI Context Binding (GACB): </a:t>
            </a:r>
            <a:r>
              <a:rPr sz="1200">
                <a:latin typeface="Arial"/>
              </a:rPr>
              <a:t>Binds parameterized SQL state tuples into Gemini 2.5 Flash prompts for zero-hallucination real-time responses.</a:t>
            </a:r>
          </a:p>
          <a:p>
            <a:pPr marL="0" indent="0" lvl="0" algn="l">
              <a:spcAft>
                <a:spcPts val="600"/>
              </a:spcAft>
            </a:pPr>
            <a:r>
              <a:rPr sz="1200" b="1">
                <a:latin typeface="Arial"/>
              </a:rPr>
              <a:t>•  Cognitive Learning Pattern Algorithm (CLPA): </a:t>
            </a:r>
            <a:r>
              <a:rPr sz="1200">
                <a:latin typeface="Arial"/>
              </a:rPr>
              <a:t>Classifies student learning archetypes dynamically using rolling telemetry reinforcement (α = 0.15).</a:t>
            </a:r>
          </a:p>
          <a:p>
            <a:pPr marL="0" indent="0" lvl="0" algn="l">
              <a:spcAft>
                <a:spcPts val="600"/>
              </a:spcAft>
            </a:pPr>
            <a:r>
              <a:rPr sz="1200" b="1">
                <a:latin typeface="Arial"/>
              </a:rPr>
              <a:t>•  Knowledge Decay Prediction Algorithm (KDPA): </a:t>
            </a:r>
            <a:r>
              <a:rPr sz="1200">
                <a:latin typeface="Arial"/>
              </a:rPr>
              <a:t>Computes Ebbinghaus memory decay across syllabus prerequisite DAGs to trigger proactive revision.</a:t>
            </a:r>
          </a:p>
          <a:p>
            <a:pPr marL="0" indent="0" lvl="0" algn="l">
              <a:spcAft>
                <a:spcPts val="600"/>
              </a:spcAft>
            </a:pPr>
            <a:r>
              <a:rPr sz="1200" b="1">
                <a:latin typeface="Arial"/>
              </a:rPr>
              <a:t>•  Hardware-Free Faculty Tracking: </a:t>
            </a:r>
            <a:r>
              <a:rPr sz="1200">
                <a:latin typeface="Arial"/>
              </a:rPr>
              <a:t>Resolves real-time faculty availability and room/cabin coordinates deterministically in O(1) time without beacons.</a:t>
            </a:r>
          </a:p>
          <a:p>
            <a:pPr marL="0" indent="0" lvl="0" algn="l">
              <a:spcAft>
                <a:spcPts val="600"/>
              </a:spcAft>
            </a:pPr>
            <a:r>
              <a:rPr sz="1200" b="1">
                <a:latin typeface="Arial"/>
              </a:rPr>
              <a:t>•  End-to-End Digital Gate Pass: </a:t>
            </a:r>
            <a:r>
              <a:rPr sz="1200">
                <a:latin typeface="Arial"/>
              </a:rPr>
              <a:t>Role-based workflow with guardian SMS OTP verification and high-security QR gate pass authorization.</a:t>
            </a:r>
          </a:p>
          <a:p>
            <a:pPr marL="0" indent="0" lvl="0" algn="l">
              <a:spcAft>
                <a:spcPts val="600"/>
              </a:spcAft>
            </a:pPr>
            <a:r>
              <a:rPr sz="1200" b="1">
                <a:latin typeface="Arial"/>
              </a:rPr>
              <a:t>•  Wearable Notification Engine: </a:t>
            </a:r>
            <a:r>
              <a:rPr sz="1200">
                <a:latin typeface="Arial"/>
              </a:rPr>
              <a:t>Intelligent dispatching with Do Not Disturb (DND) timetable synchronization and emergency haptic bypass.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893B-F417-8824-CF0D-D487A9890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20" y="0"/>
            <a:ext cx="8520600" cy="841800"/>
          </a:xfrm>
        </p:spPr>
        <p:txBody>
          <a:bodyPr/>
          <a:lstStyle/>
          <a:p>
            <a:r>
              <a:rPr lang="en-IN" dirty="0"/>
              <a:t>SDG MAPPING</a:t>
            </a:r>
          </a:p>
        </p:txBody>
      </p:sp>
      <p:pic>
        <p:nvPicPr>
          <p:cNvPr id="3" name="Picture 2" descr="scme_sdg_mapping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68680"/>
            <a:ext cx="8686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30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1645285" y="113030"/>
            <a:ext cx="5768340" cy="70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dirty="0">
                <a:solidFill>
                  <a:schemeClr val="dk1"/>
                </a:solidFill>
              </a:rPr>
              <a:t>ARCHITECTURE DIAGRAM</a:t>
            </a:r>
            <a:endParaRPr sz="3400" dirty="0"/>
          </a:p>
        </p:txBody>
      </p:sp>
      <p:pic>
        <p:nvPicPr>
          <p:cNvPr id="77" name="Picture 76" descr="block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969264"/>
            <a:ext cx="8403336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/>
        </p:nvSpPr>
        <p:spPr>
          <a:xfrm>
            <a:off x="368136" y="81280"/>
            <a:ext cx="786146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3200" dirty="0"/>
              <a:t>DATASET &amp; ALGORITHM FINALIZED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7799FE-E662-6CB7-C5F5-E483322BAE61}"/>
              </a:ext>
            </a:extLst>
          </p:cNvPr>
          <p:cNvSpPr txBox="1"/>
          <p:nvPr/>
        </p:nvSpPr>
        <p:spPr>
          <a:xfrm>
            <a:off x="368136" y="1009403"/>
            <a:ext cx="4203864" cy="3562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vl="0" algn="l">
              <a:spcAft>
                <a:spcPts val="600"/>
              </a:spcAft>
            </a:pPr>
            <a:r>
              <a:rPr sz="1400" b="1">
                <a:solidFill>
                  <a:srgbClr val="0A285F"/>
                </a:solidFill>
                <a:latin typeface="Arial"/>
              </a:rPr>
              <a:t>Campus Relational &amp; Telemetry Data</a:t>
            </a:r>
          </a:p>
          <a:p>
            <a:pPr marL="0" indent="0" lvl="0" algn="l">
              <a:spcAft>
                <a:spcPts val="200"/>
              </a:spcAft>
            </a:pPr>
            <a:r>
              <a:rPr sz="1250" b="1">
                <a:latin typeface="Arial"/>
              </a:rPr>
              <a:t>Academic Relational Schema</a:t>
            </a:r>
          </a:p>
          <a:p>
            <a:pPr marL="0" indent="0" lvl="0" algn="l">
              <a:spcAft>
                <a:spcPts val="200"/>
              </a:spcAft>
            </a:pPr>
            <a:r>
              <a:rPr sz="1150">
                <a:latin typeface="Arial"/>
              </a:rPr>
              <a:t>• Student profiles, enrolled course credits, marks</a:t>
            </a:r>
          </a:p>
          <a:p>
            <a:pPr marL="0" indent="0" lvl="0" algn="l">
              <a:spcAft>
                <a:spcPts val="200"/>
              </a:spcAft>
            </a:pPr>
            <a:r>
              <a:rPr sz="1150">
                <a:latin typeface="Arial"/>
              </a:rPr>
              <a:t>• Live timetable schedules and room allocations</a:t>
            </a:r>
          </a:p>
          <a:p>
            <a:pPr marL="0" indent="0" lvl="0" algn="l">
              <a:spcAft>
                <a:spcPts val="600"/>
              </a:spcAft>
            </a:pPr>
            <a:r>
              <a:rPr sz="1150">
                <a:latin typeface="Arial"/>
              </a:rPr>
              <a:t>• Attendance logs, faculty availability registries</a:t>
            </a:r>
          </a:p>
          <a:p>
            <a:pPr marL="0" indent="0" lvl="0" algn="l">
              <a:spcAft>
                <a:spcPts val="200"/>
              </a:spcAft>
            </a:pPr>
            <a:r>
              <a:rPr sz="1250" b="1">
                <a:latin typeface="Arial"/>
              </a:rPr>
              <a:t>Learning Telemetry Logs</a:t>
            </a:r>
          </a:p>
          <a:p>
            <a:pPr marL="0" indent="0" lvl="0" algn="l">
              <a:spcAft>
                <a:spcPts val="200"/>
              </a:spcAft>
            </a:pPr>
            <a:r>
              <a:rPr sz="1150">
                <a:latin typeface="Arial"/>
              </a:rPr>
              <a:t>• Resource dwell time and reading speeds</a:t>
            </a:r>
          </a:p>
          <a:p>
            <a:pPr marL="0" indent="0" lvl="0" algn="l">
              <a:spcAft>
                <a:spcPts val="200"/>
              </a:spcAft>
            </a:pPr>
            <a:r>
              <a:rPr sz="1150">
                <a:latin typeface="Arial"/>
              </a:rPr>
              <a:t>• Quiz attempt frequencies and score trajectories</a:t>
            </a:r>
          </a:p>
          <a:p>
            <a:pPr marL="0" indent="0" lvl="0" algn="l">
              <a:spcAft>
                <a:spcPts val="600"/>
              </a:spcAft>
            </a:pPr>
            <a:r>
              <a:rPr sz="1150">
                <a:latin typeface="Arial"/>
              </a:rPr>
              <a:t>• Syllabus prerequisite Directed Acyclic Graphs (DAG)</a:t>
            </a:r>
          </a:p>
          <a:p>
            <a:pPr marL="0" indent="0" lvl="0" algn="l">
              <a:spcAft>
                <a:spcPts val="200"/>
              </a:spcAft>
            </a:pPr>
            <a:r>
              <a:rPr sz="1250" b="1">
                <a:latin typeface="Arial"/>
              </a:rPr>
              <a:t>Operational Workflow Data</a:t>
            </a:r>
          </a:p>
          <a:p>
            <a:pPr marL="0" indent="0" lvl="0" algn="l">
              <a:spcAft>
                <a:spcPts val="200"/>
              </a:spcAft>
            </a:pPr>
            <a:r>
              <a:rPr sz="1150">
                <a:latin typeface="Arial"/>
              </a:rPr>
              <a:t>• Digital gate pass requests &amp; guardian OTP logs</a:t>
            </a:r>
          </a:p>
          <a:p>
            <a:pPr marL="0" indent="0" lvl="0" algn="l">
              <a:spcAft>
                <a:spcPts val="200"/>
              </a:spcAft>
            </a:pPr>
            <a:r>
              <a:rPr sz="1150">
                <a:latin typeface="Arial"/>
              </a:rPr>
              <a:t>• Faculty leave requests, priority alert queues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1E8335-22F8-68BC-A9FF-3E5F2BA68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785680"/>
              </p:ext>
            </p:extLst>
          </p:nvPr>
        </p:nvGraphicFramePr>
        <p:xfrm>
          <a:off x="4797630" y="1346859"/>
          <a:ext cx="4203866" cy="3414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1933">
                  <a:extLst>
                    <a:ext uri="{9D8B030D-6E8A-4147-A177-3AD203B41FA5}">
                      <a16:colId xmlns:a16="http://schemas.microsoft.com/office/drawing/2014/main" val="4078043039"/>
                    </a:ext>
                  </a:extLst>
                </a:gridCol>
                <a:gridCol w="2101933">
                  <a:extLst>
                    <a:ext uri="{9D8B030D-6E8A-4147-A177-3AD203B41FA5}">
                      <a16:colId xmlns:a16="http://schemas.microsoft.com/office/drawing/2014/main" val="1206787013"/>
                    </a:ext>
                  </a:extLst>
                </a:gridCol>
              </a:tblGrid>
              <a:tr h="392489">
                <a:tc>
                  <a:txBody>
                    <a:bodyPr/>
                    <a:lstStyle/>
                    <a:p>
                      <a:pPr>
                        <a:defRPr sz="1150" b="1">
                          <a:latin typeface="Arial"/>
                        </a:defRPr>
                      </a:pPr>
                      <a:r>
                        <a:t>Task /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latin typeface="Arial"/>
                        </a:defRPr>
                      </a:pPr>
                      <a:r>
                        <a:t>Algorithm / Architectural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2172034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>
                        <a:defRPr sz="1050" b="1">
                          <a:latin typeface="Arial"/>
                        </a:defRPr>
                      </a:pPr>
                      <a:r>
                        <a:t>Context-Bound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latin typeface="Arial"/>
                        </a:defRPr>
                      </a:pPr>
                      <a:r>
                        <a:t>Generative AI Context Binding (GACB) + Gemini 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3528415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>
                        <a:defRPr sz="1050" b="1">
                          <a:latin typeface="Arial"/>
                        </a:defRPr>
                      </a:pPr>
                      <a:r>
                        <a:t>Learner Profiling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latin typeface="Arial"/>
                        </a:defRPr>
                      </a:pPr>
                      <a:r>
                        <a:t>Cognitive Learning Pattern Algorithm (CLPA, α = 0.15)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58975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>
                        <a:defRPr sz="1050" b="1">
                          <a:latin typeface="Arial"/>
                        </a:defRPr>
                      </a:pPr>
                      <a:r>
                        <a:t>Memory Decay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latin typeface="Arial"/>
                        </a:defRPr>
                      </a:pPr>
                      <a:r>
                        <a:t>Knowledge Decay Prediction Algorithm (KDPA)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2459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>
                        <a:defRPr sz="1050" b="1">
                          <a:latin typeface="Arial"/>
                        </a:defRPr>
                      </a:pPr>
                      <a:r>
                        <a:t>Adaptive Scheduling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latin typeface="Arial"/>
                        </a:defRPr>
                      </a:pPr>
                      <a:r>
                        <a:t>Adaptive Learning Roadmap Algorithm (ALRA)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805893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>
                        <a:defRPr sz="1050" b="1">
                          <a:latin typeface="Arial"/>
                        </a:defRPr>
                      </a:pPr>
                      <a:r>
                        <a:t>Faculty 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latin typeface="Arial"/>
                        </a:defRPr>
                      </a:pPr>
                      <a:r>
                        <a:t>Deterministic O(1) Timetable-Leave Matrix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042256"/>
                  </a:ext>
                </a:extLst>
              </a:tr>
              <a:tr h="667232">
                <a:tc>
                  <a:txBody>
                    <a:bodyPr/>
                    <a:lstStyle/>
                    <a:p>
                      <a:pPr>
                        <a:defRPr sz="1050" b="1">
                          <a:latin typeface="Arial"/>
                        </a:defRPr>
                      </a:pPr>
                      <a:r>
                        <a:t>Room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latin typeface="Arial"/>
                        </a:defRPr>
                      </a:pPr>
                      <a:r>
                        <a:t>10-Factor Suitability Algorithm (DCRA+)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777260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>
                        <a:defRPr sz="1050" b="1">
                          <a:latin typeface="Arial"/>
                        </a:defRPr>
                      </a:pPr>
                      <a:r>
                        <a:t>Gate Pass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latin typeface="Arial"/>
                        </a:defRPr>
                      </a:pPr>
                      <a:r>
                        <a:t>Cryptographic Guardian OTP + QR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26145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C9E5489-3BDA-6313-03CE-0E23328CF5FB}"/>
              </a:ext>
            </a:extLst>
          </p:cNvPr>
          <p:cNvSpPr txBox="1"/>
          <p:nvPr/>
        </p:nvSpPr>
        <p:spPr>
          <a:xfrm>
            <a:off x="4797630" y="96057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Finalized Algorithms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5F9C9-3D72-D5D6-880B-D4C9859F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96" y="191422"/>
            <a:ext cx="5447832" cy="734853"/>
          </a:xfrm>
        </p:spPr>
        <p:txBody>
          <a:bodyPr>
            <a:normAutofit/>
          </a:bodyPr>
          <a:lstStyle/>
          <a:p>
            <a:r>
              <a:rPr lang="en-US" sz="3200" dirty="0"/>
              <a:t>PROPOSED ALGORITHMS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9945F-3067-D86F-9776-07A5709E6FAE}"/>
              </a:ext>
            </a:extLst>
          </p:cNvPr>
          <p:cNvSpPr txBox="1"/>
          <p:nvPr/>
        </p:nvSpPr>
        <p:spPr>
          <a:xfrm>
            <a:off x="225631" y="1068779"/>
            <a:ext cx="42157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vl="0" algn="l">
              <a:spcAft>
                <a:spcPts val="800"/>
              </a:spcAft>
            </a:pPr>
            <a:r>
              <a:rPr sz="1150" b="1">
                <a:solidFill>
                  <a:srgbClr val="0A285F"/>
                </a:solidFill>
                <a:latin typeface="Arial"/>
              </a:rPr>
              <a:t>ALGORITHM 1 — GENERATIVE AI CONTEXT BINDING (GACB)</a:t>
            </a:r>
          </a:p>
          <a:p>
            <a:pPr marL="0" indent="0" lvl="0" algn="l">
              <a:spcAft>
                <a:spcPts val="600"/>
              </a:spcAft>
            </a:pPr>
            <a:r>
              <a:rPr sz="1050" b="1">
                <a:latin typeface="Arial"/>
              </a:rPr>
              <a:t>Input: </a:t>
            </a:r>
            <a:r>
              <a:rPr sz="1050">
                <a:latin typeface="Arial"/>
              </a:rPr>
              <a:t>User query Q, authenticated session S
</a:t>
            </a:r>
            <a:r>
              <a:rPr sz="1050" b="1">
                <a:latin typeface="Arial"/>
              </a:rPr>
              <a:t>Output: </a:t>
            </a:r>
            <a:r>
              <a:rPr sz="1050">
                <a:latin typeface="Arial"/>
              </a:rPr>
              <a:t>Context-grounded deterministic AI response R</a:t>
            </a:r>
          </a:p>
          <a:p>
            <a:pPr marL="0" indent="0" lvl="0" algn="l">
              <a:spcAft>
                <a:spcPts val="500"/>
              </a:spcAft>
            </a:pPr>
            <a:r>
              <a:rPr sz="1000" b="1">
                <a:latin typeface="Arial"/>
              </a:rPr>
              <a:t>Step 1: </a:t>
            </a:r>
            <a:r>
              <a:rPr sz="1000">
                <a:latin typeface="Arial"/>
              </a:rPr>
              <a:t>Intercept user query Q and extract RBAC user role and JWT token.</a:t>
            </a:r>
          </a:p>
          <a:p>
            <a:pPr marL="0" indent="0" lvl="0" algn="l">
              <a:spcAft>
                <a:spcPts val="500"/>
              </a:spcAft>
            </a:pPr>
            <a:r>
              <a:rPr sz="1000" b="1">
                <a:latin typeface="Arial"/>
              </a:rPr>
              <a:t>Step 2: </a:t>
            </a:r>
            <a:r>
              <a:rPr sz="1000">
                <a:latin typeface="Arial"/>
              </a:rPr>
              <a:t>Classify operational intent (attendance, timetable, faculty, marks).</a:t>
            </a:r>
          </a:p>
          <a:p>
            <a:pPr marL="0" indent="0" lvl="0" algn="l">
              <a:spcAft>
                <a:spcPts val="500"/>
              </a:spcAft>
            </a:pPr>
            <a:r>
              <a:rPr sz="1000" b="1">
                <a:latin typeface="Arial"/>
              </a:rPr>
              <a:t>Step 3: </a:t>
            </a:r>
            <a:r>
              <a:rPr sz="1000">
                <a:latin typeface="Arial"/>
              </a:rPr>
              <a:t>Execute parameterized SQL query against live PostgreSQL tables.</a:t>
            </a:r>
          </a:p>
          <a:p>
            <a:pPr marL="0" indent="0" lvl="0" algn="l">
              <a:spcAft>
                <a:spcPts val="500"/>
              </a:spcAft>
            </a:pPr>
            <a:r>
              <a:rPr sz="1000" b="1">
                <a:latin typeface="Arial"/>
              </a:rPr>
              <a:t>Step 4: </a:t>
            </a:r>
            <a:r>
              <a:rPr sz="1000">
                <a:latin typeface="Arial"/>
              </a:rPr>
              <a:t>Sanitize PII and compile state tuples into compact JSON context.</a:t>
            </a:r>
          </a:p>
          <a:p>
            <a:pPr marL="0" indent="0" lvl="0" algn="l">
              <a:spcAft>
                <a:spcPts val="500"/>
              </a:spcAft>
            </a:pPr>
            <a:r>
              <a:rPr sz="1000" b="1">
                <a:latin typeface="Arial"/>
              </a:rPr>
              <a:t>Step 5: </a:t>
            </a:r>
            <a:r>
              <a:rPr sz="1000">
                <a:latin typeface="Arial"/>
              </a:rPr>
              <a:t>Bind compiled JSON payload into Google Gemini 2.5 Flash prompt.</a:t>
            </a:r>
          </a:p>
          <a:p>
            <a:pPr marL="0" indent="0" lvl="0" algn="l">
              <a:spcAft>
                <a:spcPts val="500"/>
              </a:spcAft>
            </a:pPr>
            <a:r>
              <a:rPr sz="1000" b="1">
                <a:latin typeface="Arial"/>
              </a:rPr>
              <a:t>Step 6: </a:t>
            </a:r>
            <a:r>
              <a:rPr sz="1000">
                <a:latin typeface="Arial"/>
              </a:rPr>
              <a:t>Stream context-grounded response to client with zero vector lag.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F3446-59DE-AE36-E736-CCC839583693}"/>
              </a:ext>
            </a:extLst>
          </p:cNvPr>
          <p:cNvSpPr txBox="1"/>
          <p:nvPr/>
        </p:nvSpPr>
        <p:spPr>
          <a:xfrm>
            <a:off x="4441371" y="1045028"/>
            <a:ext cx="447699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vl="0" algn="l">
              <a:spcAft>
                <a:spcPts val="800"/>
              </a:spcAft>
            </a:pPr>
            <a:r>
              <a:rPr sz="1150" b="1">
                <a:solidFill>
                  <a:srgbClr val="0A285F"/>
                </a:solidFill>
                <a:latin typeface="Arial"/>
              </a:rPr>
              <a:t>ALGORITHM 2 — COGNITIVE LEARNING PATTERN ALGORITHM (CLPA)</a:t>
            </a:r>
          </a:p>
          <a:p>
            <a:pPr marL="0" indent="0" lvl="0" algn="l">
              <a:spcAft>
                <a:spcPts val="600"/>
              </a:spcAft>
            </a:pPr>
            <a:r>
              <a:rPr sz="1050" b="1">
                <a:latin typeface="Arial"/>
              </a:rPr>
              <a:t>Input: </a:t>
            </a:r>
            <a:r>
              <a:rPr sz="1050">
                <a:latin typeface="Arial"/>
              </a:rPr>
              <a:t>Telemetry vector V = [T_read, N_attempt, T_prac, σ_time]
</a:t>
            </a:r>
            <a:r>
              <a:rPr sz="1050" b="1">
                <a:latin typeface="Arial"/>
              </a:rPr>
              <a:t>Output: </a:t>
            </a:r>
            <a:r>
              <a:rPr sz="1050">
                <a:latin typeface="Arial"/>
              </a:rPr>
              <a:t>Dominant learning archetype &amp; customized path</a:t>
            </a:r>
          </a:p>
          <a:p>
            <a:pPr marL="0" indent="0" lvl="0" algn="l">
              <a:spcAft>
                <a:spcPts val="500"/>
              </a:spcAft>
            </a:pPr>
            <a:r>
              <a:rPr sz="1000" b="1">
                <a:latin typeface="Arial"/>
              </a:rPr>
              <a:t>Step 1: </a:t>
            </a:r>
            <a:r>
              <a:rPr sz="1000">
                <a:latin typeface="Arial"/>
              </a:rPr>
              <a:t>Extract interaction telemetry vector across reading and quiz attempts.</a:t>
            </a:r>
          </a:p>
          <a:p>
            <a:pPr marL="0" indent="0" lvl="0" algn="l">
              <a:spcAft>
                <a:spcPts val="500"/>
              </a:spcAft>
            </a:pPr>
            <a:r>
              <a:rPr sz="1000" b="1">
                <a:latin typeface="Arial"/>
              </a:rPr>
              <a:t>Step 2: </a:t>
            </a:r>
            <a:r>
              <a:rPr sz="1000">
                <a:latin typeface="Arial"/>
              </a:rPr>
              <a:t>Normalize features against cohort statistical baselines.</a:t>
            </a:r>
          </a:p>
          <a:p>
            <a:pPr marL="0" indent="0" lvl="0" algn="l">
              <a:spcAft>
                <a:spcPts val="500"/>
              </a:spcAft>
            </a:pPr>
            <a:r>
              <a:rPr sz="1000" b="1">
                <a:latin typeface="Arial"/>
              </a:rPr>
              <a:t>Step 3: </a:t>
            </a:r>
            <a:r>
              <a:rPr sz="1000">
                <a:latin typeface="Arial"/>
              </a:rPr>
              <a:t>Update archetype affinities via rolling reinforcement:</a:t>
            </a:r>
          </a:p>
          <a:p>
            <a:pPr marL="0" indent="0" lvl="0" algn="l">
              <a:spcAft>
                <a:spcPts val="500"/>
              </a:spcAft>
            </a:pPr>
            <a:r>
              <a:rPr sz="1000" b="1">
                <a:latin typeface="Arial"/>
              </a:rPr>
              <a:t>             S_new = (1 - α) · S_prev + α · S_curr  (α = 0.15)</a:t>
            </a:r>
          </a:p>
          <a:p>
            <a:pPr marL="0" indent="0" lvl="0" algn="l">
              <a:spcAft>
                <a:spcPts val="500"/>
              </a:spcAft>
            </a:pPr>
            <a:r>
              <a:rPr sz="1000" b="1">
                <a:latin typeface="Arial"/>
              </a:rPr>
              <a:t>Step 4: </a:t>
            </a:r>
            <a:r>
              <a:rPr sz="1000">
                <a:latin typeface="Arial"/>
              </a:rPr>
              <a:t>Classify dominant archetype: Practical, Reading, Analytical, or Consistent.</a:t>
            </a:r>
          </a:p>
          <a:p>
            <a:pPr marL="0" indent="0" lvl="0" algn="l">
              <a:spcAft>
                <a:spcPts val="500"/>
              </a:spcAft>
            </a:pPr>
            <a:r>
              <a:rPr sz="1000" b="1">
                <a:latin typeface="Arial"/>
              </a:rPr>
              <a:t>Step 5: </a:t>
            </a:r>
            <a:r>
              <a:rPr sz="1000">
                <a:latin typeface="Arial"/>
              </a:rPr>
              <a:t>Dynamically modulate resource delivery and diagnostic question difficulty.</a:t>
            </a:r>
          </a:p>
        </p:txBody>
      </p:sp>
    </p:spTree>
    <p:extLst>
      <p:ext uri="{BB962C8B-B14F-4D97-AF65-F5344CB8AC3E}">
        <p14:creationId xmlns:p14="http://schemas.microsoft.com/office/powerpoint/2010/main" val="528369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8315F-5CA7-2166-8619-22FDDB16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22" y="143920"/>
            <a:ext cx="6148477" cy="841800"/>
          </a:xfrm>
        </p:spPr>
        <p:txBody>
          <a:bodyPr/>
          <a:lstStyle/>
          <a:p>
            <a:r>
              <a:rPr lang="en-US" dirty="0"/>
              <a:t>PROPOSED ALGORITHMS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9F211-A5ED-F535-95DC-FD592D930F6E}"/>
              </a:ext>
            </a:extLst>
          </p:cNvPr>
          <p:cNvSpPr txBox="1"/>
          <p:nvPr/>
        </p:nvSpPr>
        <p:spPr>
          <a:xfrm>
            <a:off x="228600" y="1069848"/>
            <a:ext cx="4251960" cy="397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vl="0" algn="l">
              <a:spcAft>
                <a:spcPts val="800"/>
              </a:spcAft>
            </a:pPr>
            <a:r>
              <a:rPr sz="1150" b="1">
                <a:solidFill>
                  <a:srgbClr val="0A285F"/>
                </a:solidFill>
                <a:latin typeface="Arial"/>
              </a:rPr>
              <a:t>ALGORITHM 3 — KNOWLEDGE DECAY PREDICTION (KDPA)</a:t>
            </a:r>
          </a:p>
          <a:p>
            <a:pPr marL="0" indent="0" lvl="0" algn="l">
              <a:spcAft>
                <a:spcPts val="600"/>
              </a:spcAft>
            </a:pPr>
            <a:r>
              <a:rPr sz="1050" b="1">
                <a:latin typeface="Arial"/>
              </a:rPr>
              <a:t>Input: </a:t>
            </a:r>
            <a:r>
              <a:rPr sz="1050">
                <a:latin typeface="Arial"/>
              </a:rPr>
              <a:t>Mastery S_0, elapsed t, syllabus DAG
</a:t>
            </a:r>
            <a:r>
              <a:rPr sz="1050" b="1">
                <a:latin typeface="Arial"/>
              </a:rPr>
              <a:t>Output: </a:t>
            </a:r>
            <a:r>
              <a:rPr sz="1050">
                <a:latin typeface="Arial"/>
              </a:rPr>
              <a:t>Retention score R(t), revision triggers</a:t>
            </a:r>
          </a:p>
          <a:p>
            <a:pPr marL="0" indent="0" lvl="0" algn="l">
              <a:spcAft>
                <a:spcPts val="500"/>
              </a:spcAft>
            </a:pPr>
            <a:r>
              <a:rPr sz="1050" b="1">
                <a:latin typeface="Arial"/>
              </a:rPr>
              <a:t>Step 1: </a:t>
            </a:r>
            <a:r>
              <a:rPr sz="1050">
                <a:latin typeface="Arial"/>
              </a:rPr>
              <a:t>Traverse syllabus DAG to map prerequisite dependencies.</a:t>
            </a:r>
          </a:p>
          <a:p>
            <a:pPr marL="0" indent="0" lvl="0" algn="l">
              <a:spcAft>
                <a:spcPts val="500"/>
              </a:spcAft>
            </a:pPr>
            <a:r>
              <a:rPr sz="1050" b="1">
                <a:latin typeface="Arial"/>
              </a:rPr>
              <a:t>Step 2: </a:t>
            </a:r>
            <a:r>
              <a:rPr sz="1050">
                <a:latin typeface="Arial"/>
              </a:rPr>
              <a:t>Compute memory stability: S = S_0 · (1 + β · N_rev), β = 0.25.</a:t>
            </a:r>
          </a:p>
          <a:p>
            <a:pPr marL="0" indent="0" lvl="0" algn="l">
              <a:spcAft>
                <a:spcPts val="500"/>
              </a:spcAft>
            </a:pPr>
            <a:r>
              <a:rPr sz="1050" b="1">
                <a:latin typeface="Arial"/>
              </a:rPr>
              <a:t>Step 3: </a:t>
            </a:r>
            <a:r>
              <a:rPr sz="1050">
                <a:latin typeface="Arial"/>
              </a:rPr>
              <a:t>Calculate predicted retention curve: R(t) = exp(-t / S).</a:t>
            </a:r>
          </a:p>
          <a:p>
            <a:pPr marL="0" indent="0" lvl="0" algn="l">
              <a:spcAft>
                <a:spcPts val="500"/>
              </a:spcAft>
            </a:pPr>
            <a:r>
              <a:rPr sz="1050" b="1">
                <a:latin typeface="Arial"/>
              </a:rPr>
              <a:t>Step 4: </a:t>
            </a:r>
            <a:r>
              <a:rPr sz="1050">
                <a:latin typeface="Arial"/>
              </a:rPr>
              <a:t>Propagate decay penalties to downstream syllabus concepts.</a:t>
            </a:r>
          </a:p>
          <a:p>
            <a:pPr marL="0" indent="0" lvl="0" algn="l">
              <a:spcAft>
                <a:spcPts val="500"/>
              </a:spcAft>
            </a:pPr>
            <a:r>
              <a:rPr sz="1050" b="1">
                <a:latin typeface="Arial"/>
              </a:rPr>
              <a:t>Step 5: </a:t>
            </a:r>
            <a:r>
              <a:rPr sz="1050">
                <a:latin typeface="Arial"/>
              </a:rPr>
              <a:t>If R(t) &lt; 0.60, trigger automated high-priority revision roadmap.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69848"/>
            <a:ext cx="42976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l">
              <a:spcAft>
                <a:spcPts val="800"/>
              </a:spcAft>
            </a:pPr>
            <a:r>
              <a:rPr sz="1150" b="1">
                <a:solidFill>
                  <a:srgbClr val="0A285F"/>
                </a:solidFill>
                <a:latin typeface="Arial"/>
              </a:rPr>
              <a:t>ALGORITHM 4 — DETERMINISTIC FACULTY TRACKING</a:t>
            </a:r>
          </a:p>
          <a:p>
            <a:pPr marL="0" indent="0" lvl="0" algn="l">
              <a:spcAft>
                <a:spcPts val="600"/>
              </a:spcAft>
            </a:pPr>
            <a:r>
              <a:rPr sz="1050" b="1">
                <a:latin typeface="Arial"/>
              </a:rPr>
              <a:t>Input: </a:t>
            </a:r>
            <a:r>
              <a:rPr sz="1050">
                <a:latin typeface="Arial"/>
              </a:rPr>
              <a:t>Faculty ID, current timestamp t_now
</a:t>
            </a:r>
            <a:r>
              <a:rPr sz="1050" b="1">
                <a:latin typeface="Arial"/>
              </a:rPr>
              <a:t>Output: </a:t>
            </a:r>
            <a:r>
              <a:rPr sz="1050">
                <a:latin typeface="Arial"/>
              </a:rPr>
              <a:t>Real-time status, room/cabin coordinates</a:t>
            </a:r>
          </a:p>
          <a:p>
            <a:pPr marL="0" indent="0" lvl="0" algn="l">
              <a:spcAft>
                <a:spcPts val="500"/>
              </a:spcAft>
            </a:pPr>
            <a:r>
              <a:rPr sz="1050" b="1">
                <a:latin typeface="Arial"/>
              </a:rPr>
              <a:t>Step 1: </a:t>
            </a:r>
            <a:r>
              <a:rPr sz="1050">
                <a:latin typeface="Arial"/>
              </a:rPr>
              <a:t>Query Approved Leave Registry for t_now. If active -&gt; ON_LEAVE.</a:t>
            </a:r>
          </a:p>
          <a:p>
            <a:pPr marL="0" indent="0" lvl="0" algn="l">
              <a:spcAft>
                <a:spcPts val="500"/>
              </a:spcAft>
            </a:pPr>
            <a:r>
              <a:rPr sz="1050" b="1">
                <a:latin typeface="Arial"/>
              </a:rPr>
              <a:t>Step 2: </a:t>
            </a:r>
            <a:r>
              <a:rPr sz="1050">
                <a:latin typeface="Arial"/>
              </a:rPr>
              <a:t>Query Master Timetable slot (Day, Hour). If match -&gt; IN_CLASS.</a:t>
            </a:r>
          </a:p>
          <a:p>
            <a:pPr marL="0" indent="0" lvl="0" algn="l">
              <a:spcAft>
                <a:spcPts val="500"/>
              </a:spcAft>
            </a:pPr>
            <a:r>
              <a:rPr sz="1050" b="1">
                <a:latin typeface="Arial"/>
              </a:rPr>
              <a:t>Step 3: </a:t>
            </a:r>
            <a:r>
              <a:rPr sz="1050">
                <a:latin typeface="Arial"/>
              </a:rPr>
              <a:t>Evaluate scheduled office consultation hours -&gt; IN_CABIN.</a:t>
            </a:r>
          </a:p>
          <a:p>
            <a:pPr marL="0" indent="0" lvl="0" algn="l">
              <a:spcAft>
                <a:spcPts val="500"/>
              </a:spcAft>
            </a:pPr>
            <a:r>
              <a:rPr sz="1050" b="1">
                <a:latin typeface="Arial"/>
              </a:rPr>
              <a:t>Step 4: </a:t>
            </a:r>
            <a:r>
              <a:rPr sz="1050">
                <a:latin typeface="Arial"/>
              </a:rPr>
              <a:t>Otherwise, return AVAILABLE with latest check-in log in O(1) time.</a:t>
            </a:r>
          </a:p>
        </p:txBody>
      </p:sp>
    </p:spTree>
    <p:extLst>
      <p:ext uri="{BB962C8B-B14F-4D97-AF65-F5344CB8AC3E}">
        <p14:creationId xmlns:p14="http://schemas.microsoft.com/office/powerpoint/2010/main" val="1741303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7F126-BCA0-B445-BAA0-D4DB3DA2C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45" y="143921"/>
            <a:ext cx="8520600" cy="651726"/>
          </a:xfrm>
        </p:spPr>
        <p:txBody>
          <a:bodyPr>
            <a:normAutofit fontScale="90000"/>
          </a:bodyPr>
          <a:lstStyle/>
          <a:p>
            <a:r>
              <a:rPr lang="en-IN" dirty="0"/>
              <a:t>IMPLEMENTATION STATUS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7CE6FB-F424-A578-7B1B-E68C9E02B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173729"/>
              </p:ext>
            </p:extLst>
          </p:nvPr>
        </p:nvGraphicFramePr>
        <p:xfrm>
          <a:off x="329512" y="828615"/>
          <a:ext cx="5964410" cy="4170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2205">
                  <a:extLst>
                    <a:ext uri="{9D8B030D-6E8A-4147-A177-3AD203B41FA5}">
                      <a16:colId xmlns:a16="http://schemas.microsoft.com/office/drawing/2014/main" val="2227057301"/>
                    </a:ext>
                  </a:extLst>
                </a:gridCol>
                <a:gridCol w="2982205">
                  <a:extLst>
                    <a:ext uri="{9D8B030D-6E8A-4147-A177-3AD203B41FA5}">
                      <a16:colId xmlns:a16="http://schemas.microsoft.com/office/drawing/2014/main" val="42604347"/>
                    </a:ext>
                  </a:extLst>
                </a:gridCol>
              </a:tblGrid>
              <a:tr h="297926">
                <a:tc>
                  <a:txBody>
                    <a:bodyPr/>
                    <a:lstStyle/>
                    <a:p>
                      <a:pPr>
                        <a:defRPr sz="1100" b="1">
                          <a:latin typeface="Arial"/>
                        </a:defRPr>
                      </a:pPr>
                      <a:r>
                        <a:t>Component / Module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755716753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React 18 SPA Frontend &amp; Tailwind UI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8232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502167493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FastAPI Asynchronous ASGI Backend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8232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3841958455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SQLAlchemy 2.0 Async ORM &amp; DB Engine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8232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4266643602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Generative AI Context Binding (GACB)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8232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3613777383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Google Gemini 2.5 Flash SDK Pipeline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8232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794049005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Cognitive Learning Pattern Engine (CLPA)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8232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550160031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Knowledge Decay Ebbinghaus Model (KDPA)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8232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723458250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Adaptive Learning Roadmap Planner (ALRA)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8232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723457531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Deterministic Faculty Location Tracker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8232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2625800771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Digital Gate Pass with Guardian SMS OTP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8232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989534697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Wearable Notification WebSocket Bridge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8232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450607190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Comprehensive Verification Suite (22 Tests)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8232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3724580698"/>
                  </a:ext>
                </a:extLst>
              </a:tr>
              <a:tr h="297926">
                <a:tc>
                  <a:txBody>
                    <a:bodyPr/>
                    <a:lstStyle/>
                    <a:p>
                      <a:pPr>
                        <a:defRPr sz="1000" b="1">
                          <a:latin typeface="Arial"/>
                        </a:defRPr>
                      </a:pPr>
                      <a:r>
                        <a:t>Native WearOS Haptic Micro-Application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46400"/>
                          </a:solidFill>
                          <a:latin typeface="Arial"/>
                        </a:defRPr>
                      </a:pPr>
                      <a:r>
                        <a:t>Phase-II Roadmap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6249998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29B4362-8F22-8286-0E06-13CF4B32E3CE}"/>
              </a:ext>
            </a:extLst>
          </p:cNvPr>
          <p:cNvSpPr txBox="1"/>
          <p:nvPr/>
        </p:nvSpPr>
        <p:spPr>
          <a:xfrm>
            <a:off x="6697683" y="2196935"/>
            <a:ext cx="22563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vl="0" algn="l">
              <a:spcAft>
                <a:spcPts val="800"/>
              </a:spcAft>
            </a:pPr>
            <a:r>
              <a:rPr sz="1300" b="1">
                <a:solidFill>
                  <a:srgbClr val="0A285F"/>
                </a:solidFill>
                <a:latin typeface="Arial"/>
              </a:rPr>
              <a:t>Overall Status:
</a:t>
            </a:r>
          </a:p>
          <a:p>
            <a:pPr marL="0" indent="0" lvl="0" algn="l"/>
            <a:r>
              <a:rPr sz="1150">
                <a:latin typeface="Arial"/>
              </a:rPr>
              <a:t>Phase-I core architecture, high-concurrency microservices, all 10 proprietary algorithms, and 22 automated verification test suites are 100% completed, benchmarked, and verified.</a:t>
            </a:r>
          </a:p>
        </p:txBody>
      </p:sp>
    </p:spTree>
    <p:extLst>
      <p:ext uri="{BB962C8B-B14F-4D97-AF65-F5344CB8AC3E}">
        <p14:creationId xmlns:p14="http://schemas.microsoft.com/office/powerpoint/2010/main" val="3957018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09728"/>
            <a:ext cx="5769864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Arial"/>
              </a:defRPr>
            </a:pPr>
            <a:r>
              <a:t>SYSTEM FLOW DIAGRAM</a:t>
            </a:r>
          </a:p>
        </p:txBody>
      </p:sp>
      <p:pic>
        <p:nvPicPr>
          <p:cNvPr id="3" name="Picture 2" descr="flo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8412480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33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19046-D3F7-9917-C021-846E1BCFD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47" y="215172"/>
            <a:ext cx="5804092" cy="687353"/>
          </a:xfrm>
        </p:spPr>
        <p:txBody>
          <a:bodyPr>
            <a:normAutofit fontScale="90000"/>
          </a:bodyPr>
          <a:lstStyle/>
          <a:p>
            <a:r>
              <a:rPr lang="en-IN" dirty="0"/>
              <a:t>SURVEY PAPER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F908D0-A959-EEE9-1E26-1A4C347B4F48}"/>
              </a:ext>
            </a:extLst>
          </p:cNvPr>
          <p:cNvSpPr txBox="1"/>
          <p:nvPr/>
        </p:nvSpPr>
        <p:spPr>
          <a:xfrm>
            <a:off x="403761" y="1056904"/>
            <a:ext cx="85027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vl="0" algn="l">
              <a:spcAft>
                <a:spcPts val="800"/>
              </a:spcAft>
            </a:pPr>
            <a:r>
              <a:rPr sz="1200" b="1">
                <a:latin typeface="Arial"/>
              </a:rPr>
              <a:t>Title:
</a:t>
            </a:r>
            <a:r>
              <a:rPr sz="1200" i="1">
                <a:latin typeface="Arial"/>
              </a:rPr>
              <a:t>A Survey on Context-Bound Generative AI, Wearable Notifications, and Cognitive Learning Analytics in Smart Campus Management Ecosystems</a:t>
            </a:r>
          </a:p>
          <a:p>
            <a:pPr marL="0" indent="0" lvl="0" algn="l">
              <a:spcAft>
                <a:spcPts val="600"/>
              </a:spcAft>
            </a:pPr>
            <a:r>
              <a:rPr sz="1300" b="1">
                <a:solidFill>
                  <a:srgbClr val="0A285F"/>
                </a:solidFill>
                <a:latin typeface="Arial"/>
              </a:rPr>
              <a:t>Current Status</a:t>
            </a:r>
          </a:p>
          <a:p>
            <a:pPr marL="0" indent="0" lvl="0" algn="l">
              <a:spcAft>
                <a:spcPts val="400"/>
              </a:spcAft>
            </a:pPr>
            <a:r>
              <a:rPr sz="1200">
                <a:latin typeface="Arial"/>
              </a:rPr>
              <a:t>•  Comprehensive literature survey completed covering 10 seminal research papers across IEEE, ACM, Springer, and Elsevier.</a:t>
            </a:r>
          </a:p>
          <a:p>
            <a:pPr marL="0" indent="0" lvl="0" algn="l">
              <a:spcAft>
                <a:spcPts val="400"/>
              </a:spcAft>
            </a:pPr>
            <a:r>
              <a:rPr sz="1200">
                <a:latin typeface="Arial"/>
              </a:rPr>
              <a:t>•  In-depth comparative architectural analysis conducted contrasting naive Vector-RAG vs. GACB relational compilation.</a:t>
            </a:r>
          </a:p>
          <a:p>
            <a:pPr marL="0" indent="0" lvl="0" algn="l">
              <a:spcAft>
                <a:spcPts val="400"/>
              </a:spcAft>
            </a:pPr>
            <a:r>
              <a:rPr sz="1200">
                <a:latin typeface="Arial"/>
              </a:rPr>
              <a:t>•  Rigorous evaluation of hardware IoT beacons vs. deterministic software location models documented.</a:t>
            </a:r>
          </a:p>
          <a:p>
            <a:pPr marL="0" indent="0" lvl="0" algn="l">
              <a:spcAft>
                <a:spcPts val="400"/>
              </a:spcAft>
            </a:pPr>
            <a:r>
              <a:rPr sz="1200">
                <a:latin typeface="Arial"/>
              </a:rPr>
              <a:t>•  Algorithmic taxonomy of cognitive student modeling (CLPA) and Ebbinghaus forgetting dynamics (KDPA) formalized.</a:t>
            </a:r>
          </a:p>
          <a:p>
            <a:pPr marL="0" indent="0" lvl="0" algn="l">
              <a:spcAft>
                <a:spcPts val="400"/>
              </a:spcAft>
            </a:pPr>
            <a:r>
              <a:rPr sz="1200">
                <a:latin typeface="Arial"/>
              </a:rPr>
              <a:t>•  Complete survey paper manuscript draft compiled and structured.</a:t>
            </a:r>
          </a:p>
          <a:p>
            <a:pPr marL="0" indent="0" lvl="0" algn="l">
              <a:spcAft>
                <a:spcPts val="1000"/>
              </a:spcAft>
            </a:pPr>
            <a:r>
              <a:rPr sz="1200">
                <a:latin typeface="Arial"/>
              </a:rPr>
              <a:t>•  Final IEEE conference paper formatting, citation styling, and editorial refinements in progress.</a:t>
            </a:r>
          </a:p>
          <a:p>
            <a:pPr marL="0" indent="0" lvl="0" algn="l">
              <a:spcAft>
                <a:spcPts val="400"/>
              </a:spcAft>
            </a:pPr>
            <a:r>
              <a:rPr sz="1300" b="1">
                <a:solidFill>
                  <a:srgbClr val="0A285F"/>
                </a:solidFill>
                <a:latin typeface="Arial"/>
              </a:rPr>
              <a:t>Status</a:t>
            </a:r>
          </a:p>
          <a:p>
            <a:pPr marL="0" indent="0" lvl="0" algn="l"/>
            <a:r>
              <a:rPr sz="1200" b="1">
                <a:latin typeface="Arial"/>
              </a:rPr>
              <a:t>       Survey Paper – Manuscript Completed / Target Conference Formatting in Progress</a:t>
            </a:r>
          </a:p>
        </p:txBody>
      </p:sp>
    </p:spTree>
    <p:extLst>
      <p:ext uri="{BB962C8B-B14F-4D97-AF65-F5344CB8AC3E}">
        <p14:creationId xmlns:p14="http://schemas.microsoft.com/office/powerpoint/2010/main" val="3707589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56F1-F47A-26B7-0253-852D077E2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71" y="0"/>
            <a:ext cx="8520600" cy="841800"/>
          </a:xfrm>
        </p:spPr>
        <p:txBody>
          <a:bodyPr>
            <a:normAutofit fontScale="90000"/>
          </a:bodyPr>
          <a:lstStyle/>
          <a:p>
            <a:r>
              <a:rPr lang="en-IN" dirty="0"/>
              <a:t>SURVEY PAPER PUBLICATION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1F62AF-AC0C-7E72-8480-FCF6118F217B}"/>
              </a:ext>
            </a:extLst>
          </p:cNvPr>
          <p:cNvSpPr txBox="1"/>
          <p:nvPr/>
        </p:nvSpPr>
        <p:spPr>
          <a:xfrm>
            <a:off x="273132" y="1009403"/>
            <a:ext cx="8609611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vl="0" algn="l">
              <a:spcAft>
                <a:spcPts val="400"/>
              </a:spcAft>
            </a:pPr>
            <a:r>
              <a:rPr sz="1300" b="1">
                <a:solidFill>
                  <a:srgbClr val="0A285F"/>
                </a:solidFill>
                <a:latin typeface="Arial"/>
              </a:rPr>
              <a:t>PUBLICATION STATUS
</a:t>
            </a:r>
          </a:p>
          <a:p>
            <a:pPr marL="0" indent="0" lvl="0" algn="l">
              <a:spcAft>
                <a:spcPts val="400"/>
              </a:spcAft>
            </a:pPr>
            <a:r>
              <a:rPr sz="1200" b="1">
                <a:latin typeface="Arial"/>
              </a:rPr>
              <a:t>Paper Type: </a:t>
            </a:r>
            <a:r>
              <a:rPr sz="1200">
                <a:latin typeface="Arial"/>
              </a:rPr>
              <a:t>Survey / Research Review Paper</a:t>
            </a:r>
          </a:p>
          <a:p>
            <a:pPr marL="0" indent="0" lvl="0" algn="l">
              <a:spcAft>
                <a:spcPts val="800"/>
              </a:spcAft>
            </a:pPr>
            <a:r>
              <a:rPr sz="1200" b="1">
                <a:latin typeface="Arial"/>
              </a:rPr>
              <a:t>Research Area: </a:t>
            </a:r>
            <a:r>
              <a:rPr sz="1150">
                <a:latin typeface="Arial"/>
              </a:rPr>
              <a:t>Artificial Intelligence | Higher Education ERP | Generative AI Context Binding | Cognitive Analytics</a:t>
            </a:r>
          </a:p>
          <a:p>
            <a:pPr marL="0" indent="0" lvl="0" algn="l">
              <a:spcAft>
                <a:spcPts val="600"/>
              </a:spcAft>
            </a:pPr>
            <a:r>
              <a:rPr sz="1300" b="1">
                <a:solidFill>
                  <a:srgbClr val="0A285F"/>
                </a:solidFill>
                <a:latin typeface="Arial"/>
              </a:rPr>
              <a:t>Publication Progress</a:t>
            </a:r>
          </a:p>
          <a:p>
            <a:pPr marL="0" indent="0" lvl="0" algn="l">
              <a:spcAft>
                <a:spcPts val="400"/>
              </a:spcAft>
            </a:pPr>
            <a:r>
              <a:rPr sz="1200">
                <a:latin typeface="Arial"/>
              </a:rPr>
              <a:t>•  Target publication venues identified: IEEE International Conference on Advanced Learning Technologies (ICALT) / IEEE Access.</a:t>
            </a:r>
          </a:p>
          <a:p>
            <a:pPr marL="0" indent="0" lvl="0" algn="l">
              <a:spcAft>
                <a:spcPts val="400"/>
              </a:spcAft>
            </a:pPr>
            <a:r>
              <a:rPr sz="1200">
                <a:latin typeface="Arial"/>
              </a:rPr>
              <a:t>•  Full manuscript draft compiled incorporating literature review matrix, system taxonomies, and empirical benchmarks.</a:t>
            </a:r>
          </a:p>
          <a:p>
            <a:pPr marL="0" indent="0" lvl="0" algn="l">
              <a:spcAft>
                <a:spcPts val="400"/>
              </a:spcAft>
            </a:pPr>
            <a:r>
              <a:rPr sz="1200">
                <a:latin typeface="Arial"/>
              </a:rPr>
              <a:t>•  Research gap analysis and Phase-II edge intelligence roadmap seamlessly integrated.</a:t>
            </a:r>
          </a:p>
          <a:p>
            <a:pPr marL="0" indent="0" lvl="0" algn="l">
              <a:spcAft>
                <a:spcPts val="400"/>
              </a:spcAft>
            </a:pPr>
            <a:r>
              <a:rPr sz="1200">
                <a:latin typeface="Arial"/>
              </a:rPr>
              <a:t>•  Manuscript currently undergoing final internal peer review and quality audit by Project Supervisor (Ms. S. Vidhiya).</a:t>
            </a:r>
          </a:p>
          <a:p>
            <a:pPr marL="0" indent="0" lvl="0" algn="l">
              <a:spcAft>
                <a:spcPts val="1000"/>
              </a:spcAft>
            </a:pPr>
            <a:r>
              <a:rPr sz="1200">
                <a:latin typeface="Arial"/>
              </a:rPr>
              <a:t>•  Plagiarism check, formatting compliance, and IEEE camera-ready styling underway.</a:t>
            </a:r>
          </a:p>
          <a:p>
            <a:pPr marL="0" indent="0" lvl="0" algn="l">
              <a:spcAft>
                <a:spcPts val="400"/>
              </a:spcAft>
            </a:pPr>
            <a:r>
              <a:rPr sz="1300" b="1">
                <a:solidFill>
                  <a:srgbClr val="0A285F"/>
                </a:solidFill>
                <a:latin typeface="Arial"/>
              </a:rPr>
              <a:t>Current Status</a:t>
            </a:r>
          </a:p>
          <a:p>
            <a:pPr marL="0" indent="0" lvl="0" algn="l"/>
            <a:r>
              <a:rPr sz="1200" b="1">
                <a:latin typeface="Arial"/>
              </a:rPr>
              <a:t>       Manuscript Preparation / Supervisor Internal Review in Progress</a:t>
            </a:r>
          </a:p>
        </p:txBody>
      </p:sp>
    </p:spTree>
    <p:extLst>
      <p:ext uri="{BB962C8B-B14F-4D97-AF65-F5344CB8AC3E}">
        <p14:creationId xmlns:p14="http://schemas.microsoft.com/office/powerpoint/2010/main" val="344236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B76B9-3FA4-2ED3-264F-6940D4EC1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96" y="344083"/>
            <a:ext cx="8520600" cy="841800"/>
          </a:xfrm>
        </p:spPr>
        <p:txBody>
          <a:bodyPr/>
          <a:lstStyle/>
          <a:p>
            <a:r>
              <a:rPr lang="en-US" dirty="0"/>
              <a:t>CONCLUSION and FUTURE SCOPE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35185-EB13-6B83-9A98-775E72469B18}"/>
              </a:ext>
            </a:extLst>
          </p:cNvPr>
          <p:cNvSpPr txBox="1"/>
          <p:nvPr/>
        </p:nvSpPr>
        <p:spPr>
          <a:xfrm>
            <a:off x="451691" y="1288973"/>
            <a:ext cx="8097397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vl="0" algn="l">
              <a:spcAft>
                <a:spcPts val="600"/>
              </a:spcAft>
            </a:pPr>
            <a:r>
              <a:rPr sz="1300" b="1">
                <a:solidFill>
                  <a:srgbClr val="0A285F"/>
                </a:solidFill>
                <a:latin typeface="Arial"/>
              </a:rPr>
              <a:t>CONCLUSION</a:t>
            </a:r>
          </a:p>
          <a:p>
            <a:pPr marL="0" indent="0" lvl="0" algn="l">
              <a:spcAft>
                <a:spcPts val="400"/>
              </a:spcAft>
            </a:pPr>
            <a:r>
              <a:rPr sz="1150">
                <a:latin typeface="Arial"/>
              </a:rPr>
              <a:t>•  The project successfully designed and implemented Phase-I of SCME-AWN, an asynchronous campus management platform uniting daily institutional workflows with generative AI and cognitive analytics.</a:t>
            </a:r>
          </a:p>
          <a:p>
            <a:pPr marL="0" indent="0" lvl="0" algn="l">
              <a:spcAft>
                <a:spcPts val="400"/>
              </a:spcAft>
            </a:pPr>
            <a:r>
              <a:rPr sz="1150">
                <a:latin typeface="Arial"/>
              </a:rPr>
              <a:t>•  Generative AI Context Binding (GACB) demonstrated sub-50ms query response latency, sub-25ms compilation times, and an empirical 75% reduction in API token consumption without vector lag.</a:t>
            </a:r>
          </a:p>
          <a:p>
            <a:pPr marL="0" indent="0" lvl="0" algn="l">
              <a:spcAft>
                <a:spcPts val="1000"/>
              </a:spcAft>
            </a:pPr>
            <a:r>
              <a:rPr sz="1150">
                <a:latin typeface="Arial"/>
              </a:rPr>
              <a:t>•  Achieved a 100% pass rate across 22 comprehensive verification test suites encompassing authentication, timetable resolution, attendance tracking, gate passes, and AI context binding.</a:t>
            </a:r>
          </a:p>
          <a:p>
            <a:pPr marL="0" indent="0" lvl="0" algn="l">
              <a:spcAft>
                <a:spcPts val="600"/>
              </a:spcAft>
            </a:pPr>
            <a:r>
              <a:rPr sz="1300" b="1">
                <a:solidFill>
                  <a:srgbClr val="0A285F"/>
                </a:solidFill>
                <a:latin typeface="Arial"/>
              </a:rPr>
              <a:t>FUTURE SCOPE (PHASE-II)</a:t>
            </a:r>
          </a:p>
          <a:p>
            <a:pPr marL="0" indent="0" lvl="0" algn="l">
              <a:spcAft>
                <a:spcPts val="400"/>
              </a:spcAft>
            </a:pPr>
            <a:r>
              <a:rPr sz="1150">
                <a:latin typeface="Arial"/>
              </a:rPr>
              <a:t>•  Native WearOS / Android watch applications with localized haptic vibration patterns for class transitions.</a:t>
            </a:r>
          </a:p>
          <a:p>
            <a:pPr marL="0" indent="0" lvl="0" algn="l">
              <a:spcAft>
                <a:spcPts val="400"/>
              </a:spcAft>
            </a:pPr>
            <a:r>
              <a:rPr sz="1150">
                <a:latin typeface="Arial"/>
              </a:rPr>
              <a:t>•  Edge computer vision nodes (MobileNet-SSD) for automated, non-intrusive classroom facial attendance.</a:t>
            </a:r>
          </a:p>
          <a:p>
            <a:pPr marL="0" indent="0" lvl="0" algn="l">
              <a:spcAft>
                <a:spcPts val="400"/>
              </a:spcAft>
            </a:pPr>
            <a:r>
              <a:rPr sz="1150">
                <a:latin typeface="Arial"/>
              </a:rPr>
              <a:t>•  Biometric hostel barrier gate integration interfacing with physical ESP32 turnstiles and solenoid locks.</a:t>
            </a:r>
          </a:p>
          <a:p>
            <a:pPr marL="0" indent="0" lvl="0" algn="l"/>
            <a:r>
              <a:rPr sz="1150">
                <a:latin typeface="Arial"/>
              </a:rPr>
              <a:t>•  Cross-institutional federated learning analytics across affiliated engineering colleges for student performance benchmarking.</a:t>
            </a:r>
          </a:p>
        </p:txBody>
      </p:sp>
    </p:spTree>
    <p:extLst>
      <p:ext uri="{BB962C8B-B14F-4D97-AF65-F5344CB8AC3E}">
        <p14:creationId xmlns:p14="http://schemas.microsoft.com/office/powerpoint/2010/main" val="1796753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/>
        </p:nvSpPr>
        <p:spPr>
          <a:xfrm>
            <a:off x="3035935" y="0"/>
            <a:ext cx="3072130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</a:rPr>
              <a:t>REFERENCE</a:t>
            </a:r>
            <a:r>
              <a:rPr lang="en-GB" sz="3600">
                <a:solidFill>
                  <a:schemeClr val="dk1"/>
                </a:solidFill>
              </a:rPr>
              <a:t> </a:t>
            </a:r>
            <a:endParaRPr sz="1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795" y="735330"/>
            <a:ext cx="8360410" cy="3883025"/>
          </a:xfrm>
        </p:spPr>
        <p:txBody>
          <a:bodyPr wrap="square">
            <a:noAutofit/>
          </a:bodyPr>
          <a:lstStyle/>
          <a:p>
            <a:pPr algn="l" marL="0" indent="0" lvl="0">
              <a:spcAft>
                <a:spcPts val="400"/>
              </a:spcAft>
            </a:pPr>
            <a:r>
              <a:rPr sz="1050">
                <a:latin typeface="Arial"/>
              </a:rPr>
              <a:t>[1] M. Al-Shboul et al., "Dynamic Context Binding for Relational Enterprise Systems Using LLMs," IEEE Transactions on Services Computing, 2025.</a:t>
            </a:r>
          </a:p>
          <a:p>
            <a:pPr marL="0" indent="0" lvl="0" algn="l">
              <a:spcAft>
                <a:spcPts val="400"/>
              </a:spcAft>
            </a:pPr>
            <a:r>
              <a:rPr sz="1050">
                <a:latin typeface="Arial"/>
              </a:rPr>
              <a:t>[2] H. Wang et al., "Adaptive Learning Style Classification via Telemetry Analytics," Computers &amp; Education, vol. 210, 2024.</a:t>
            </a:r>
          </a:p>
          <a:p>
            <a:pPr marL="0" indent="0" lvl="0" algn="l">
              <a:spcAft>
                <a:spcPts val="400"/>
              </a:spcAft>
            </a:pPr>
            <a:r>
              <a:rPr sz="1050">
                <a:latin typeface="Arial"/>
              </a:rPr>
              <a:t>[3] K. Patel and S. Yamamoto, "Asynchronous Backend Microservices for High-Concurrency Academic Portals," ACM SAC, 2025.</a:t>
            </a:r>
          </a:p>
          <a:p>
            <a:pPr marL="0" indent="0" lvl="0" algn="l">
              <a:spcAft>
                <a:spcPts val="400"/>
              </a:spcAft>
            </a:pPr>
            <a:r>
              <a:rPr sz="1050">
                <a:latin typeface="Arial"/>
              </a:rPr>
              <a:t>[4] D. Rao et al., "Longitudinal Analysis of IoT Hardware Beacons in Campus Environments," IEEE Internet of Things Journal, 2024.</a:t>
            </a:r>
          </a:p>
          <a:p>
            <a:pPr marL="0" indent="0" lvl="0" algn="l">
              <a:spcAft>
                <a:spcPts val="400"/>
              </a:spcAft>
            </a:pPr>
            <a:r>
              <a:rPr sz="1050">
                <a:latin typeface="Arial"/>
              </a:rPr>
              <a:t>[5] A. Gomez et al., "Diagnostic Question Evolution in Higher Education via Large Language Models," IEEE TLT, 2025.</a:t>
            </a:r>
          </a:p>
          <a:p>
            <a:pPr marL="0" indent="0" lvl="0" algn="l">
              <a:spcAft>
                <a:spcPts val="400"/>
              </a:spcAft>
            </a:pPr>
            <a:r>
              <a:rPr sz="1050">
                <a:latin typeface="Arial"/>
              </a:rPr>
              <a:t>[6] J. Kim et al., "Explainable Academic Roadmaps via Rule-Constrained Neuro-Symbolic AI," Artificial Intelligence in Education, 2024.</a:t>
            </a:r>
          </a:p>
          <a:p>
            <a:pPr marL="0" indent="0" lvl="0" algn="l">
              <a:spcAft>
                <a:spcPts val="400"/>
              </a:spcAft>
            </a:pPr>
            <a:r>
              <a:rPr sz="1050">
                <a:latin typeface="Arial"/>
              </a:rPr>
              <a:t>[7] R. Anand et al., "Autonomous Campus Ecosystems: A Systematic Survey," Education and Information Technologies, Springer, 2024.</a:t>
            </a:r>
          </a:p>
          <a:p>
            <a:pPr marL="0" indent="0" lvl="0" algn="l">
              <a:spcAft>
                <a:spcPts val="400"/>
              </a:spcAft>
            </a:pPr>
            <a:r>
              <a:rPr sz="1050">
                <a:latin typeface="Arial"/>
              </a:rPr>
              <a:t>[8] H. Ebbinghaus, "Memory: A Contribution to Experimental Psychology," Columbia University, 1885.</a:t>
            </a:r>
          </a:p>
          <a:p>
            <a:pPr marL="0" indent="0" lvl="0" algn="l">
              <a:spcAft>
                <a:spcPts val="400"/>
              </a:spcAft>
            </a:pPr>
            <a:r>
              <a:rPr sz="1050">
                <a:latin typeface="Arial"/>
              </a:rPr>
              <a:t>[9] S. J. Russell and P. Norvig, "Artificial Intelligence: A Modern Approach," 4th ed., Pearson, 2020.</a:t>
            </a:r>
          </a:p>
          <a:p>
            <a:pPr marL="0" indent="0" lvl="0" algn="l">
              <a:spcAft>
                <a:spcPts val="400"/>
              </a:spcAft>
            </a:pPr>
            <a:r>
              <a:rPr sz="1050">
                <a:latin typeface="Arial"/>
              </a:rPr>
              <a:t>[10] E. K. Burke et al., "Constraint Satisfaction in Academic Course Timetabling," European Journal of Operational Research, 2007.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1361</Words>
  <Application>Microsoft Office PowerPoint</Application>
  <PresentationFormat>On-screen Show (16:9)</PresentationFormat>
  <Paragraphs>186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Simple Light</vt:lpstr>
      <vt:lpstr>OFFLINE MULTIMODEL RAG SYSTEM </vt:lpstr>
      <vt:lpstr>PowerPoint Presentation</vt:lpstr>
      <vt:lpstr>PowerPoint Presentation</vt:lpstr>
      <vt:lpstr>PowerPoint Presentation</vt:lpstr>
      <vt:lpstr>SDG MAPPING</vt:lpstr>
      <vt:lpstr>PowerPoint Presentation</vt:lpstr>
      <vt:lpstr>PowerPoint Presentation</vt:lpstr>
      <vt:lpstr>PROPOSED ALGORITHMS</vt:lpstr>
      <vt:lpstr>PROPOSED ALGORITHMS</vt:lpstr>
      <vt:lpstr>IMPLEMENTATION STATUS</vt:lpstr>
      <vt:lpstr>PowerPoint Presentation</vt:lpstr>
      <vt:lpstr>SURVEY PAPER STATUS</vt:lpstr>
      <vt:lpstr>SURVEY PAPER PUBLICATION STATUS</vt:lpstr>
      <vt:lpstr>CONCLUSION and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Bharathi C</dc:creator>
  <cp:lastModifiedBy>Bharathi C</cp:lastModifiedBy>
  <cp:revision>10</cp:revision>
  <dcterms:created xsi:type="dcterms:W3CDTF">2026-08-10T16:53:00Z</dcterms:created>
  <dcterms:modified xsi:type="dcterms:W3CDTF">2026-09-09T04:28:40Z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284F71F749DB48F7918CE8B37234F10B_13</vt:lpwstr>
  </property>
</Properties>
</file>